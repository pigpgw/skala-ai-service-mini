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377" y="1427708"/>
            <a:ext cx="649172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과제 1번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377" y="3729186"/>
            <a:ext cx="4105172" cy="800100"/>
          </a:xfrm>
          <a:prstGeom prst="roundRect">
            <a:avLst>
              <a:gd name="adj" fmla="val 16666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90995" y="3729186"/>
            <a:ext cx="4105172" cy="8001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8796" y="1451520"/>
            <a:ext cx="2266840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SKALA AI 서비스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1789658"/>
            <a:ext cx="10673828" cy="13212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4523"/>
              </a:lnSpc>
              <a:spcBef>
                <a:spcPts val="0"/>
              </a:spcBef>
              <a:spcAft>
                <a:spcPts val="0"/>
              </a:spcAft>
            </a:pPr>
            <a:r>
              <a:rPr sz="3899" b="1" spc="-97">
                <a:solidFill>
                  <a:srgbClr val="12151A"/>
                </a:solidFill>
                <a:latin typeface="Pretendard"/>
              </a:rPr>
              <a:t>Base AI Agent의</a:t>
            </a:r>
          </a:p>
          <a:p>
            <a:pPr algn="l">
              <a:lnSpc>
                <a:spcPts val="4523"/>
              </a:lnSpc>
              <a:spcBef>
                <a:spcPts val="0"/>
              </a:spcBef>
              <a:spcAft>
                <a:spcPts val="0"/>
              </a:spcAft>
            </a:pPr>
            <a:r>
              <a:rPr sz="3899" b="1" spc="-97">
                <a:solidFill>
                  <a:srgbClr val="12151A"/>
                </a:solidFill>
                <a:latin typeface="Pretendard"/>
              </a:rPr>
              <a:t>RunBook 선택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091011"/>
            <a:ext cx="10673828" cy="3614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74"/>
              </a:lnSpc>
              <a:spcBef>
                <a:spcPts val="0"/>
              </a:spcBef>
              <a:spcAft>
                <a:spcPts val="0"/>
              </a:spcAft>
            </a:pPr>
            <a:r>
              <a:rPr sz="1649" b="0">
                <a:solidFill>
                  <a:srgbClr val="5A6472"/>
                </a:solidFill>
                <a:latin typeface="Pretendard"/>
              </a:rPr>
              <a:t>RAG 기반 RunBook 선택 · 라우팅 기준 확대 · 데이터 확장 · 평가 하네스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4815036"/>
            <a:ext cx="10673828" cy="7075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42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79번 박건우</a:t>
            </a:r>
            <a:r>
              <a:rPr sz="1274" b="0">
                <a:solidFill>
                  <a:srgbClr val="5A6472"/>
                </a:solidFill>
                <a:latin typeface="Pretendard"/>
              </a:rPr>
              <a:t> (G079 · 광주 3반) · 2026-10-21</a:t>
            </a:r>
          </a:p>
          <a:p>
            <a:pPr algn="l">
              <a:lnSpc>
                <a:spcPts val="242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5A6472"/>
                </a:solidFill>
                <a:latin typeface="Pretendard"/>
              </a:rPr>
              <a:t>
    github.com/pigpgw/skala-ai-service-mini
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79번 박건우 · 광주 3반</a:t>
            </a:r>
            <a:r>
              <a:rPr sz="974" b="0">
                <a:solidFill>
                  <a:srgbClr val="8A93A0"/>
                </a:solidFill>
                <a:latin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3729186"/>
            <a:ext cx="4228327" cy="920114"/>
          </a:xfrm>
          <a:prstGeom prst="rect">
            <a:avLst/>
          </a:prstGeom>
          <a:noFill/>
        </p:spPr>
        <p:txBody>
          <a:bodyPr wrap="none" lIns="190495" rIns="190495" tIns="171450" bIns="17145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4" b="1">
                <a:solidFill>
                  <a:srgbClr val="12151A"/>
                </a:solidFill>
                <a:latin typeface="Pretendard"/>
              </a:rPr>
              <a:t>2분 — 기능과 결과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0">
                <a:solidFill>
                  <a:srgbClr val="5A6472"/>
                </a:solidFill>
                <a:latin typeface="Pretendard"/>
              </a:rPr>
              <a:t>무엇을 고쳤나 · Before/After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0995" y="3729186"/>
            <a:ext cx="4228327" cy="920114"/>
          </a:xfrm>
          <a:prstGeom prst="rect">
            <a:avLst/>
          </a:prstGeom>
          <a:noFill/>
        </p:spPr>
        <p:txBody>
          <a:bodyPr wrap="none" lIns="190495" rIns="190495" tIns="171450" bIns="17145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4" b="1">
                <a:solidFill>
                  <a:srgbClr val="12151A"/>
                </a:solidFill>
                <a:latin typeface="Pretendard"/>
              </a:rPr>
              <a:t>3분 — 코드 설명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0">
                <a:solidFill>
                  <a:srgbClr val="5A6472"/>
                </a:solidFill>
                <a:latin typeface="Pretendard"/>
              </a:rPr>
              <a:t>Agent Graph 구성 · MCP ·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688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2분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66376" y="642937"/>
            <a:ext cx="9901437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1948457"/>
            <a:ext cx="3454215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68591" y="1948457"/>
            <a:ext cx="3454363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13449" y="1948457"/>
            <a:ext cx="3454364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3881" y="3139082"/>
            <a:ext cx="6548572" cy="3109318"/>
          </a:xfrm>
          <a:prstGeom prst="roundRect">
            <a:avLst>
              <a:gd name="adj" fmla="val 4288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62948" y="3139082"/>
            <a:ext cx="4004865" cy="3109318"/>
          </a:xfrm>
          <a:prstGeom prst="roundRect">
            <a:avLst>
              <a:gd name="adj" fmla="val 4288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2017" y="3605807"/>
            <a:ext cx="3566726" cy="1530549"/>
          </a:xfrm>
          <a:prstGeom prst="roundRect">
            <a:avLst>
              <a:gd name="adj" fmla="val 7467"/>
            </a:avLst>
          </a:prstGeom>
          <a:solidFill>
            <a:srgbClr val="11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6817" y="557212"/>
            <a:ext cx="272241" cy="2081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장애 유형 판정이 "키워드 첫 매칭"이었다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81" y="1420415"/>
            <a:ext cx="9810504" cy="32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424" b="0">
                <a:solidFill>
                  <a:srgbClr val="5A6472"/>
                </a:solidFill>
                <a:latin typeface="Pretendard"/>
              </a:rPr>
              <a:t>규칙 순서가 증상 우선순위와 무관했고, 질의문은 아예 보지 않았다.
    고치기 전에 기준선부터 재니 12문항 중 4개가 어긋났다.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문제 — agent/graph.py::_classify_incident_type</a:t>
            </a:r>
            <a:r>
              <a:rPr sz="974" b="0">
                <a:solidFill>
                  <a:srgbClr val="8A93A0"/>
                </a:solidFill>
                <a:latin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1" y="1948457"/>
            <a:ext cx="3557841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8A5300"/>
                </a:solidFill>
                <a:latin typeface="Pretendard"/>
              </a:rPr>
              <a:t>8/12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keyword 기준선 정확도 = 0.6667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591" y="1948457"/>
            <a:ext cx="3557993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2B5FD9"/>
                </a:solidFill>
                <a:latin typeface="Pretendard"/>
              </a:rPr>
              <a:t>4개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오분류 — 모두 코드 위치로 추적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449" y="1948457"/>
            <a:ext cx="3557994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2B5FD9"/>
                </a:solidFill>
                <a:latin typeface="Pretendard"/>
              </a:rPr>
              <a:t>0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질의문을 읽는 코드 (0줄)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951" y="3339107"/>
            <a:ext cx="6293744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무엇이 틀렸나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2017" y="3339107"/>
            <a:ext cx="3673727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판정 로직 (개선 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951" y="3605807"/>
            <a:ext cx="6293744" cy="810577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B07</a:t>
            </a:r>
            <a:r>
              <a:rPr sz="1274" b="0">
                <a:solidFill>
                  <a:srgbClr val="12151A"/>
                </a:solidFill>
                <a:latin typeface="Pretendard"/>
              </a:rPr>
              <a:t> gateway(타임아웃) + payments(CPU)를 함께 보면 알림이 한 덩어리라
            </a:t>
            </a:r>
            <a:r>
              <a:rPr sz="1147" b="0">
                <a:solidFill>
                  <a:srgbClr val="12151A"/>
                </a:solidFill>
                <a:highlight>
                  <a:srgbClr val="F4F6FA"/>
                </a:highlight>
                <a:latin typeface="JetBrains Mono"/>
              </a:rPr>
              <a:t>cpu</a:t>
            </a:r>
            <a:r>
              <a:rPr sz="1274" b="0">
                <a:solidFill>
                  <a:srgbClr val="12151A"/>
                </a:solidFill>
                <a:latin typeface="Pretendard"/>
              </a:rPr>
              <a:t>가 먼저 잡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힘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
            </a:t>
            </a:r>
            <a:r>
              <a:rPr sz="1049" b="0">
                <a:solidFill>
                  <a:srgbClr val="8A93A0"/>
                </a:solidFill>
                <a:latin typeface="JetBrains Mono"/>
              </a:rPr>
              <a:t>agent/graph.py:195-216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951" y="4415432"/>
            <a:ext cx="6293744" cy="279321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B09</a:t>
            </a:r>
            <a:r>
              <a:rPr sz="1274" b="0">
                <a:solidFill>
                  <a:srgbClr val="12151A"/>
                </a:solidFill>
                <a:latin typeface="Pretendard"/>
              </a:rPr>
              <a:t> </a:t>
            </a:r>
            <a:r>
              <a:rPr sz="1147" b="0">
                <a:solidFill>
                  <a:srgbClr val="12151A"/>
                </a:solidFill>
                <a:highlight>
                  <a:srgbClr val="F4F6FA"/>
                </a:highlight>
                <a:latin typeface="JetBrains Mono"/>
              </a:rPr>
              <a:t>memory</a:t>
            </a:r>
            <a:r>
              <a:rPr sz="1274" b="0">
                <a:solidFill>
                  <a:srgbClr val="12151A"/>
                </a:solidFill>
                <a:latin typeface="Pretendard"/>
              </a:rPr>
              <a:t>가 </a:t>
            </a:r>
            <a:r>
              <a:rPr sz="1147" b="0">
                <a:solidFill>
                  <a:srgbClr val="12151A"/>
                </a:solidFill>
                <a:highlight>
                  <a:srgbClr val="F4F6FA"/>
                </a:highlight>
                <a:latin typeface="JetBrains Mono"/>
              </a:rPr>
              <a:t>disk</a:t>
            </a:r>
            <a:r>
              <a:rPr sz="1274" b="0">
                <a:solidFill>
                  <a:srgbClr val="12151A"/>
                </a:solidFill>
                <a:latin typeface="Pretendard"/>
              </a:rPr>
              <a:t>보다 앞에 있어 디스크 문제를
            메모리 절차로 답함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51" y="4763095"/>
            <a:ext cx="6293744" cy="279320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B10·B11</a:t>
            </a:r>
            <a:r>
              <a:rPr sz="1274" b="0">
                <a:solidFill>
                  <a:srgbClr val="12151A"/>
                </a:solidFill>
                <a:latin typeface="Pretendard"/>
              </a:rPr>
              <a:t> 판정 함수가 질의문을 읽지 않음 → "디스크 부족"이
            지연으로 분류됨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951" y="5110757"/>
            <a:ext cx="6293744" cy="279321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매칭 실패</a:t>
            </a:r>
            <a:r>
              <a:rPr sz="1274" b="0">
                <a:solidFill>
                  <a:srgbClr val="12151A"/>
                </a:solidFill>
                <a:latin typeface="Pretendard"/>
              </a:rPr>
              <a:t> → 무조건 </a:t>
            </a:r>
            <a:r>
              <a:rPr sz="1147" b="0">
                <a:solidFill>
                  <a:srgbClr val="12151A"/>
                </a:solidFill>
                <a:highlight>
                  <a:srgbClr val="F4F6FA"/>
                </a:highlight>
                <a:latin typeface="JetBrains Mono"/>
              </a:rPr>
              <a:t>db-down</a:t>
            </a:r>
            <a:r>
              <a:rPr sz="1274" b="0">
                <a:solidFill>
                  <a:srgbClr val="12151A"/>
                </a:solidFill>
                <a:latin typeface="Pretendard"/>
              </a:rPr>
              <a:t> ("아무 장애나 db-down 대응")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688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2분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2009129" y="642937"/>
            <a:ext cx="9458684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4441626"/>
            <a:ext cx="10743932" cy="560040"/>
          </a:xfrm>
          <a:prstGeom prst="roundRect">
            <a:avLst>
              <a:gd name="adj" fmla="val 23810"/>
            </a:avLst>
          </a:prstGeom>
          <a:solidFill>
            <a:srgbClr val="E9F6EE"/>
          </a:solidFill>
          <a:ln w="9524">
            <a:solidFill>
              <a:srgbClr val="C9E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3881" y="1420415"/>
            <a:ext cx="5276718" cy="1320106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1095" y="1420415"/>
            <a:ext cx="5276718" cy="1320106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3881" y="2931021"/>
            <a:ext cx="5276718" cy="1320105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1095" y="2931021"/>
            <a:ext cx="5276718" cy="1320105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6817" y="557212"/>
            <a:ext cx="728275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개선한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네 축을 손봤다 — 판정 하나를 바꾸고, 측정할 수 있게 만들었다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개선 — agent/rag/* · agent/fake_llm.py · agent/data_profile.py · eval/</a:t>
            </a:r>
            <a:r>
              <a:rPr sz="974" b="0">
                <a:solidFill>
                  <a:srgbClr val="8A93A0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951" y="4603551"/>
            <a:ext cx="10614965" cy="2716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개선 후 회귀 질의 10개: 3/10 → 10/10</a:t>
            </a:r>
            <a:r>
              <a:rPr sz="1199" b="0">
                <a:solidFill>
                  <a:srgbClr val="5A6472"/>
                </a:solidFill>
                <a:latin typeface="Pretendard"/>
              </a:rPr>
              <a:t> — 매뉴얼 9쪽이 알려준
        테스트 질의로 자기 자신을 테스트할 수 없던 상태였다.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951" y="1620440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1. RAG 기반 RunBook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0164" y="1620440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2. 라우팅 기준 확대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51" y="1887140"/>
            <a:ext cx="4983736" cy="5432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키워드 첫 매칭 → 런북 10종 임베딩 의미 검색. </a:t>
            </a:r>
            <a:r>
              <a:rPr sz="1199" b="1">
                <a:solidFill>
                  <a:srgbClr val="12151A"/>
                </a:solidFill>
                <a:latin typeface="Pretendard"/>
              </a:rPr>
              <a:t>확신이 없으면
          keyword로 폴백</a:t>
            </a:r>
            <a:r>
              <a:rPr sz="1199" b="0">
                <a:solidFill>
                  <a:srgbClr val="5A6472"/>
                </a:solidFill>
                <a:latin typeface="Pretendard"/>
              </a:rPr>
              <a:t>해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기존 동작이 깨지지 않게 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0164" y="1887140"/>
            <a:ext cx="4983736" cy="5432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결정론 백엔드의 정규식이 키워드 7개뿐이라 </a:t>
            </a:r>
            <a:r>
              <a:rPr sz="1199" b="1">
                <a:solidFill>
                  <a:srgbClr val="12151A"/>
                </a:solidFill>
                <a:latin typeface="Pretendard"/>
              </a:rPr>
              <a:t>매뉴얼 예시 질의 7개가
          chat으로</a:t>
            </a:r>
            <a:r>
              <a:rPr sz="1199" b="0">
                <a:solidFill>
                  <a:srgbClr val="5A6472"/>
                </a:solidFill>
                <a:latin typeface="Pretendard"/>
              </a:rPr>
              <a:t> 떨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어졌다. 운영 어휘로 넓혔다.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951" y="3131046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3. 데이터 확장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0164" y="3131046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4. 평가 하네스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951" y="3397746"/>
            <a:ext cx="4983736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모니터링 </a:t>
            </a:r>
            <a:r>
              <a:rPr sz="1199" b="1">
                <a:solidFill>
                  <a:srgbClr val="12151A"/>
                </a:solidFill>
                <a:latin typeface="Pretendard"/>
              </a:rPr>
              <a:t>6 → 12시스템</a:t>
            </a:r>
            <a:r>
              <a:rPr sz="1199" b="0">
                <a:solidFill>
                  <a:srgbClr val="5A6472"/>
                </a:solidFill>
                <a:latin typeface="Pretendard"/>
              </a:rPr>
              <a:t>, 런북 </a:t>
            </a:r>
            <a:r>
              <a:rPr sz="1199" b="1">
                <a:solidFill>
                  <a:srgbClr val="12151A"/>
                </a:solidFill>
                <a:latin typeface="Pretendard"/>
              </a:rPr>
              <a:t>6 → 10종</a:t>
            </a:r>
            <a:r>
              <a:rPr sz="1199" b="0">
                <a:solidFill>
                  <a:srgbClr val="5A6472"/>
                </a:solidFill>
                <a:latin typeface="Pretendard"/>
              </a:rPr>
              <a:t>
          (신규 유형 4종). 파일 선택은 한 곳에서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164" y="3397746"/>
            <a:ext cx="4983736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실행 1회 = 폴더 1개(</a:t>
            </a:r>
            <a:r>
              <a:rPr sz="1199" b="1">
                <a:solidFill>
                  <a:srgbClr val="12151A"/>
                </a:solidFill>
                <a:latin typeface="Pretendard"/>
              </a:rPr>
              <a:t>조건·지표·입출력</a:t>
            </a:r>
            <a:r>
              <a:rPr sz="1199" b="0">
                <a:solidFill>
                  <a:srgbClr val="5A6472"/>
                </a:solidFill>
                <a:latin typeface="Pretendard"/>
              </a:rPr>
              <a:t>), 40문항 라벨 동결,
          회귀 10문항 실행기, </a:t>
            </a:r>
            <a:r>
              <a:rPr sz="1199" b="1">
                <a:solidFill>
                  <a:srgbClr val="12151A"/>
                </a:solidFill>
                <a:latin typeface="Pretendard"/>
              </a:rPr>
              <a:t>문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서 숫자 ↔ 원본 자동 대조</a:t>
            </a:r>
            <a:r>
              <a:rPr sz="1199" b="0">
                <a:solidFill>
                  <a:srgbClr val="5A6472"/>
                </a:solidFill>
                <a:latin typeface="Pretendard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688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2분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66376" y="642937"/>
            <a:ext cx="9901437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1420415"/>
            <a:ext cx="4952876" cy="4827985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67253" y="1420415"/>
            <a:ext cx="5600560" cy="2362200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67253" y="3973115"/>
            <a:ext cx="5600560" cy="2275285"/>
          </a:xfrm>
          <a:prstGeom prst="roundRect">
            <a:avLst>
              <a:gd name="adj" fmla="val 5860"/>
            </a:avLst>
          </a:prstGeom>
          <a:solidFill>
            <a:srgbClr val="FBF3E2"/>
          </a:solidFill>
          <a:ln w="9524">
            <a:solidFill>
              <a:srgbClr val="EDDD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5052" y="2210990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05052" y="237291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5052" y="2649140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5052" y="281106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05052" y="3087290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5052" y="324921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05052" y="3525440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05052" y="368736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F1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6322" y="1887140"/>
            <a:ext cx="1590784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6322" y="2106215"/>
            <a:ext cx="1590784" cy="19050"/>
          </a:xfrm>
          <a:prstGeom prst="rect">
            <a:avLst/>
          </a:prstGeom>
          <a:solidFill>
            <a:srgbClr val="D5DB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77106" y="1887140"/>
            <a:ext cx="1186577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77106" y="2106215"/>
            <a:ext cx="1186577" cy="19050"/>
          </a:xfrm>
          <a:prstGeom prst="rect">
            <a:avLst/>
          </a:prstGeom>
          <a:solidFill>
            <a:srgbClr val="D5DB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3683" y="1887140"/>
            <a:ext cx="1186577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3683" y="2106215"/>
            <a:ext cx="1186577" cy="19050"/>
          </a:xfrm>
          <a:prstGeom prst="rect">
            <a:avLst/>
          </a:prstGeom>
          <a:solidFill>
            <a:srgbClr val="D5DB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0260" y="1887140"/>
            <a:ext cx="1198483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0260" y="2106215"/>
            <a:ext cx="1198483" cy="19050"/>
          </a:xfrm>
          <a:prstGeom prst="rect">
            <a:avLst/>
          </a:prstGeom>
          <a:solidFill>
            <a:srgbClr val="D5DB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6322" y="2125265"/>
            <a:ext cx="1590784" cy="3667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6322" y="2482453"/>
            <a:ext cx="1590784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77106" y="2125265"/>
            <a:ext cx="1186577" cy="3667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77106" y="248245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3683" y="2125265"/>
            <a:ext cx="1186577" cy="3667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63683" y="248245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50260" y="2125265"/>
            <a:ext cx="1198483" cy="3667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50260" y="2482453"/>
            <a:ext cx="1198483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905052" y="2210990"/>
            <a:ext cx="247644" cy="123825"/>
          </a:xfrm>
          <a:prstGeom prst="roundRect">
            <a:avLst>
              <a:gd name="adj" fmla="val 30769"/>
            </a:avLst>
          </a:prstGeom>
          <a:solidFill>
            <a:srgbClr val="C4C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05052" y="2372915"/>
            <a:ext cx="647684" cy="123825"/>
          </a:xfrm>
          <a:prstGeom prst="roundRect">
            <a:avLst>
              <a:gd name="adj" fmla="val 30769"/>
            </a:avLst>
          </a:prstGeom>
          <a:solidFill>
            <a:srgbClr val="2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6322" y="2491978"/>
            <a:ext cx="1590784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86322" y="2844403"/>
            <a:ext cx="1590784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77106" y="249197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77106" y="284440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863683" y="249197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63683" y="284440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050260" y="2491978"/>
            <a:ext cx="1198483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0260" y="2844403"/>
            <a:ext cx="1198483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05052" y="2649140"/>
            <a:ext cx="216093" cy="123825"/>
          </a:xfrm>
          <a:prstGeom prst="roundRect">
            <a:avLst>
              <a:gd name="adj" fmla="val 30769"/>
            </a:avLst>
          </a:prstGeom>
          <a:solidFill>
            <a:srgbClr val="C4C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905052" y="2811065"/>
            <a:ext cx="649172" cy="123825"/>
          </a:xfrm>
          <a:prstGeom prst="roundRect">
            <a:avLst>
              <a:gd name="adj" fmla="val 30769"/>
            </a:avLst>
          </a:prstGeom>
          <a:solidFill>
            <a:srgbClr val="2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86322" y="2853928"/>
            <a:ext cx="1590784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6322" y="3206353"/>
            <a:ext cx="1590784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7106" y="285392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77106" y="320635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63683" y="285392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63683" y="320635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50260" y="2853928"/>
            <a:ext cx="1198483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050260" y="3206353"/>
            <a:ext cx="1198483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05052" y="3087290"/>
            <a:ext cx="152396" cy="123825"/>
          </a:xfrm>
          <a:prstGeom prst="roundRect">
            <a:avLst>
              <a:gd name="adj" fmla="val 30769"/>
            </a:avLst>
          </a:prstGeom>
          <a:solidFill>
            <a:srgbClr val="C4C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86322" y="3215878"/>
            <a:ext cx="1590784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86322" y="3568303"/>
            <a:ext cx="1590784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77106" y="321587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77106" y="356830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863683" y="3215878"/>
            <a:ext cx="1186577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3683" y="3568303"/>
            <a:ext cx="1186577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50260" y="3215878"/>
            <a:ext cx="1198483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50260" y="3568303"/>
            <a:ext cx="1198483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905052" y="324921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2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905052" y="3525440"/>
            <a:ext cx="228594" cy="123825"/>
          </a:xfrm>
          <a:prstGeom prst="roundRect">
            <a:avLst>
              <a:gd name="adj" fmla="val 30769"/>
            </a:avLst>
          </a:prstGeom>
          <a:solidFill>
            <a:srgbClr val="C4CE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905052" y="3687365"/>
            <a:ext cx="761981" cy="123825"/>
          </a:xfrm>
          <a:prstGeom prst="roundRect">
            <a:avLst>
              <a:gd name="adj" fmla="val 30769"/>
            </a:avLst>
          </a:prstGeom>
          <a:solidFill>
            <a:srgbClr val="2B5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06817" y="557212"/>
            <a:ext cx="272241" cy="2081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결과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같은 입력, 같은 조건 — 2회 실행한 결과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결과 — artifacts/runs/ · doc/reports/evidence/before_after.md</a:t>
            </a:r>
            <a:r>
              <a:rPr sz="974" b="0">
                <a:solidFill>
                  <a:srgbClr val="8A93A0"/>
                </a:solidFill>
                <a:latin typeface="Pretendard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2951" y="1620440"/>
            <a:ext cx="4650179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검색 정확도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86322" y="1620440"/>
            <a:ext cx="5317293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비용과 부작용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2951" y="1906190"/>
            <a:ext cx="4650179" cy="175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2" b="0">
                <a:solidFill>
                  <a:srgbClr val="5A6472"/>
                </a:solidFill>
                <a:latin typeface="Pretendard"/>
              </a:rPr>
              <a:t>Before (keyword)</a:t>
            </a:r>
            <a:r>
              <a:rPr sz="1012" b="0">
                <a:solidFill>
                  <a:srgbClr val="5A6472"/>
                </a:solidFill>
                <a:latin typeface="Pretendard"/>
              </a:rPr>
              <a:t> </a:t>
            </a:r>
            <a:r>
              <a:rPr sz="1012" b="0">
                <a:solidFill>
                  <a:srgbClr val="5A6472"/>
                </a:solidFill>
                <a:latin typeface="Pretendard"/>
              </a:rPr>
              <a:t>After (RAG)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67273" y="4135040"/>
            <a:ext cx="5356535" cy="814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한계도 그대로:</a:t>
            </a:r>
            <a:r>
              <a:rPr sz="1199" b="0">
                <a:solidFill>
                  <a:srgbClr val="5A6472"/>
                </a:solidFill>
                <a:latin typeface="Pretendard"/>
              </a:rPr>
              <a:t> 데이터 확장(6→12)은 분류 정확도를 0 올렸다
            (base 34/40 ≡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extended 34/40). 바뀐 건 조사 커버리지(unknown 18.75% → 0%).
            margin 게이트는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2문항을 아꼈다.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67273" y="4900761"/>
            <a:ext cx="5356535" cy="2375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049" b="0">
                <a:solidFill>
                  <a:srgbClr val="8A93A0"/>
                </a:solidFill>
                <a:latin typeface="Pretendard"/>
              </a:rPr>
              <a:t>
            근거 화면·원본: doc/reports/evidence/before_after.md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2951" y="2254746"/>
            <a:ext cx="1863996" cy="2278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40문항 분류 정확도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19429" y="2263378"/>
            <a:ext cx="1687406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5A6472"/>
                </a:solidFill>
                <a:latin typeface="Pretendard"/>
              </a:rPr>
              <a:t>0.3250</a:t>
            </a:r>
            <a:r>
              <a:rPr sz="1199" b="0">
                <a:solidFill>
                  <a:srgbClr val="8A93A0"/>
                </a:solidFill>
                <a:latin typeface="Pretendard"/>
              </a:rPr>
              <a:t>→</a:t>
            </a:r>
            <a:r>
              <a:rPr sz="1199" b="1">
                <a:solidFill>
                  <a:srgbClr val="2B5FD9"/>
                </a:solidFill>
                <a:latin typeface="Pretendard"/>
              </a:rPr>
              <a:t>0.8500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2951" y="2692896"/>
            <a:ext cx="1863996" cy="2278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macro-F1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19429" y="2701528"/>
            <a:ext cx="1687406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5A6472"/>
                </a:solidFill>
                <a:latin typeface="Pretendard"/>
              </a:rPr>
              <a:t>0.2836</a:t>
            </a:r>
            <a:r>
              <a:rPr sz="1199" b="0">
                <a:solidFill>
                  <a:srgbClr val="8A93A0"/>
                </a:solidFill>
                <a:latin typeface="Pretendard"/>
              </a:rPr>
              <a:t>→</a:t>
            </a:r>
            <a:r>
              <a:rPr sz="1199" b="1">
                <a:solidFill>
                  <a:srgbClr val="2B5FD9"/>
                </a:solidFill>
                <a:latin typeface="Pretendard"/>
              </a:rPr>
              <a:t>0.8521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2951" y="3131046"/>
            <a:ext cx="1863996" cy="2278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E2E 5문항 (실서버)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19429" y="3139678"/>
            <a:ext cx="1687406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5A6472"/>
                </a:solidFill>
                <a:latin typeface="Pretendard"/>
              </a:rPr>
              <a:t>0.2000</a:t>
            </a:r>
            <a:r>
              <a:rPr sz="1199" b="0">
                <a:solidFill>
                  <a:srgbClr val="8A93A0"/>
                </a:solidFill>
                <a:latin typeface="Pretendard"/>
              </a:rPr>
              <a:t>→</a:t>
            </a:r>
            <a:r>
              <a:rPr sz="1199" b="1">
                <a:solidFill>
                  <a:srgbClr val="2B5FD9"/>
                </a:solidFill>
                <a:latin typeface="Pretendard"/>
              </a:rPr>
              <a:t>1.0000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2951" y="3569196"/>
            <a:ext cx="1863996" cy="2278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5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회귀 10문항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19429" y="3577828"/>
            <a:ext cx="1687406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5A6472"/>
                </a:solidFill>
                <a:latin typeface="Pretendard"/>
              </a:rPr>
              <a:t>3/10</a:t>
            </a:r>
            <a:r>
              <a:rPr sz="1199" b="0">
                <a:solidFill>
                  <a:srgbClr val="8A93A0"/>
                </a:solidFill>
                <a:latin typeface="Pretendard"/>
              </a:rPr>
              <a:t>→</a:t>
            </a:r>
            <a:r>
              <a:rPr sz="1199" b="1">
                <a:solidFill>
                  <a:srgbClr val="2B5FD9"/>
                </a:solidFill>
                <a:latin typeface="Pretendard"/>
              </a:rPr>
              <a:t>10/10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86322" y="1887140"/>
            <a:ext cx="1638507" cy="273843"/>
          </a:xfrm>
          <a:prstGeom prst="rect">
            <a:avLst/>
          </a:prstGeom>
          <a:noFill/>
        </p:spPr>
        <p:txBody>
          <a:bodyPr wrap="none" lIns="0" rIns="114297" tIns="0" bIns="76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지표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77106" y="1887140"/>
            <a:ext cx="1222174" cy="273843"/>
          </a:xfrm>
          <a:prstGeom prst="rect">
            <a:avLst/>
          </a:prstGeom>
          <a:noFill/>
        </p:spPr>
        <p:txBody>
          <a:bodyPr wrap="none" lIns="0" rIns="114297" tIns="0" bIns="762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Before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63683" y="1887140"/>
            <a:ext cx="1222174" cy="273843"/>
          </a:xfrm>
          <a:prstGeom prst="rect">
            <a:avLst/>
          </a:prstGeom>
          <a:noFill/>
        </p:spPr>
        <p:txBody>
          <a:bodyPr wrap="none" lIns="0" rIns="114297" tIns="0" bIns="762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After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0260" y="1887140"/>
            <a:ext cx="1234437" cy="273843"/>
          </a:xfrm>
          <a:prstGeom prst="rect">
            <a:avLst/>
          </a:prstGeom>
          <a:noFill/>
        </p:spPr>
        <p:txBody>
          <a:bodyPr wrap="none" lIns="0" rIns="114297" tIns="0" bIns="762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차이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6322" y="2125265"/>
            <a:ext cx="1638507" cy="421719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분류 지연 p50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77106" y="2125265"/>
            <a:ext cx="1222174" cy="421719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0.0ms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3683" y="2125265"/>
            <a:ext cx="1222174" cy="421719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32.43ms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0260" y="2125265"/>
            <a:ext cx="1234437" cy="421719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+32.43ms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86322" y="2491978"/>
            <a:ext cx="1638507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비용 (USD)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77106" y="2491978"/>
            <a:ext cx="1222174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0.000000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3683" y="2491978"/>
            <a:ext cx="1222174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0.000000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50260" y="2491978"/>
            <a:ext cx="1234437" cy="416242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86322" y="2853928"/>
            <a:ext cx="1638507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retry 횟수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77106" y="2853928"/>
            <a:ext cx="1222174" cy="416242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863683" y="2853928"/>
            <a:ext cx="1222174" cy="416242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0260" y="2853928"/>
            <a:ext cx="1234437" cy="416242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86322" y="3215878"/>
            <a:ext cx="1638507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keyword 폴백률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677106" y="3215878"/>
            <a:ext cx="1222174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100.00%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863683" y="3215878"/>
            <a:ext cx="1222174" cy="416242"/>
          </a:xfrm>
          <a:prstGeom prst="rect">
            <a:avLst/>
          </a:prstGeom>
          <a:noFill/>
        </p:spPr>
        <p:txBody>
          <a:bodyPr wrap="non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12151A"/>
                </a:solidFill>
                <a:latin typeface="Pretendard"/>
              </a:rPr>
              <a:t>15.00%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50260" y="3215878"/>
            <a:ext cx="1234437" cy="416242"/>
          </a:xfrm>
          <a:prstGeom prst="rect">
            <a:avLst/>
          </a:prstGeom>
          <a:noFill/>
        </p:spPr>
        <p:txBody>
          <a:bodyPr wrap="square" lIns="0" rIns="114297" tIns="85725" bIns="85725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7784A"/>
                </a:solidFill>
                <a:latin typeface="Pretendard"/>
              </a:rPr>
              <a:t>−85.00%p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837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3분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6500" y="642937"/>
            <a:ext cx="8961313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2228850"/>
            <a:ext cx="10743932" cy="26289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architecture_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814" y="2238375"/>
            <a:ext cx="8870066" cy="40005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3881" y="5048250"/>
            <a:ext cx="5276718" cy="1139130"/>
          </a:xfrm>
          <a:prstGeom prst="roundRect">
            <a:avLst>
              <a:gd name="adj" fmla="val 1170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095" y="5048250"/>
            <a:ext cx="5276718" cy="1139130"/>
          </a:xfrm>
          <a:prstGeom prst="roundRect">
            <a:avLst>
              <a:gd name="adj" fmla="val 1170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3406" y="6238875"/>
            <a:ext cx="10724882" cy="314325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3406" y="6238875"/>
            <a:ext cx="1072488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6965" y="557212"/>
            <a:ext cx="1240415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Agent Graph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그래프는 그대로 — 판정 한 줄만 갈아끼웠다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81" y="1420415"/>
            <a:ext cx="9810504" cy="6449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424" b="0">
                <a:solidFill>
                  <a:srgbClr val="5A6472"/>
                </a:solidFill>
                <a:latin typeface="Pretendard"/>
              </a:rPr>
              <a:t>route → plan → gate → research → </a:t>
            </a:r>
            <a:r>
              <a:rPr sz="1424" b="1">
                <a:solidFill>
                  <a:srgbClr val="5A6472"/>
                </a:solidFill>
                <a:latin typeface="Pretendard"/>
              </a:rPr>
              <a:t>replan_check</a:t>
            </a:r>
            <a:r>
              <a:rPr sz="1424" b="0">
                <a:solidFill>
                  <a:srgbClr val="5A6472"/>
                </a:solidFill>
                <a:latin typeface="Pretendard"/>
              </a:rPr>
              <a:t> → analysis → write → validate → finalize.
    </a:t>
            </a:r>
            <a:r>
              <a:rPr sz="1424" b="1">
                <a:solidFill>
                  <a:srgbClr val="5A6472"/>
                </a:solidFill>
                <a:latin typeface="Pretendard"/>
              </a:rPr>
              <a:t>replan_check</a:t>
            </a:r>
            <a:r>
              <a:rPr sz="1424" b="0">
                <a:solidFill>
                  <a:srgbClr val="5A6472"/>
                </a:solidFill>
                <a:latin typeface="Pretendard"/>
              </a:rPr>
              <a:t>가 런북을 추가로 조회하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424" b="0">
                <a:solidFill>
                  <a:srgbClr val="5A6472"/>
                </a:solidFill>
                <a:latin typeface="Pretendard"/>
              </a:rPr>
              <a:t>는 지점이고, 그 판단을 RAG로 바꿨다.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그래프 — agent/graph.py::_select_incident_type() · replan_check_node</a:t>
            </a:r>
            <a:r>
              <a:rPr sz="974" b="0">
                <a:solidFill>
                  <a:srgbClr val="8A93A0"/>
                </a:solidFill>
                <a:latin typeface="Pretendard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06" y="6238875"/>
            <a:ext cx="11046628" cy="361473"/>
          </a:xfrm>
          <a:prstGeom prst="rect">
            <a:avLst/>
          </a:prstGeom>
          <a:noFill/>
        </p:spPr>
        <p:txBody>
          <a:bodyPr wrap="square" lIns="114297" rIns="114297" tIns="76200" bIns="76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0">
                <a:solidFill>
                  <a:srgbClr val="5A6472"/>
                </a:solidFill>
                <a:latin typeface="Pretendard"/>
              </a:rPr>
              <a:t>FastAPI 프로세스(:8100) 안의 그래프 · MCP ops 서버(stdio) · RAG 인덱스와 임베더 · 평가 하네스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51" y="5248275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왜 그 지점인가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0164" y="5248275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근거를 남긴 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951" y="5514975"/>
            <a:ext cx="4983736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판정을 바꾸면 </a:t>
            </a:r>
            <a:r>
              <a:rPr sz="1199" b="1">
                <a:solidFill>
                  <a:srgbClr val="12151A"/>
                </a:solidFill>
                <a:latin typeface="Pretendard"/>
              </a:rPr>
              <a:t>런북 조회</a:t>
            </a:r>
            <a:r>
              <a:rPr sz="1199" b="0">
                <a:solidFill>
                  <a:srgbClr val="5A6472"/>
                </a:solidFill>
                <a:latin typeface="Pretendard"/>
              </a:rPr>
              <a:t>와 </a:t>
            </a:r>
            <a:r>
              <a:rPr sz="1199" b="1">
                <a:solidFill>
                  <a:srgbClr val="12151A"/>
                </a:solidFill>
                <a:latin typeface="Pretendard"/>
              </a:rPr>
              <a:t>답변 작성</a:t>
            </a:r>
            <a:r>
              <a:rPr sz="1199" b="0">
                <a:solidFill>
                  <a:srgbClr val="5A6472"/>
                </a:solidFill>
                <a:latin typeface="Pretendard"/>
              </a:rPr>
              <a:t>이 같이 바뀐다.
          근거를 남기지 않으면 이유를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설명할 수 없다.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0164" y="5514975"/>
            <a:ext cx="4983736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079" b="0">
                <a:solidFill>
                  <a:srgbClr val="5A6472"/>
                </a:solidFill>
                <a:highlight>
                  <a:srgbClr val="F4F6FA"/>
                </a:highlight>
                <a:latin typeface="JetBrains Mono"/>
              </a:rPr>
              <a:t>/health.rag</a:t>
            </a:r>
            <a:r>
              <a:rPr sz="1199" b="0">
                <a:solidFill>
                  <a:srgbClr val="5A6472"/>
                </a:solidFill>
                <a:latin typeface="Pretendard"/>
              </a:rPr>
              <a:t> · </a:t>
            </a:r>
            <a:r>
              <a:rPr sz="1079" b="0">
                <a:solidFill>
                  <a:srgbClr val="5A6472"/>
                </a:solidFill>
                <a:highlight>
                  <a:srgbClr val="F4F6FA"/>
                </a:highlight>
                <a:latin typeface="JetBrains Mono"/>
              </a:rPr>
              <a:t>/chat</a:t>
            </a:r>
            <a:r>
              <a:rPr sz="1199" b="0">
                <a:solidFill>
                  <a:srgbClr val="5A6472"/>
                </a:solidFill>
                <a:latin typeface="Pretendard"/>
              </a:rPr>
              <a:t> metadata ·
          SSE </a:t>
            </a:r>
            <a:r>
              <a:rPr sz="1079" b="0">
                <a:solidFill>
                  <a:srgbClr val="5A6472"/>
                </a:solidFill>
                <a:highlight>
                  <a:srgbClr val="F4F6FA"/>
                </a:highlight>
                <a:latin typeface="JetBrains Mono"/>
              </a:rPr>
              <a:t>ReplanCheck</a:t>
            </a:r>
            <a:r>
              <a:rPr sz="1199" b="0">
                <a:solidFill>
                  <a:srgbClr val="5A6472"/>
                </a:solidFill>
                <a:latin typeface="Pretendard"/>
              </a:rPr>
              <a:t> — 어떤 런북을 골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랐는지, 점수와 1·2위 격차가 그대로 보인다.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837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3분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1913881" y="642937"/>
            <a:ext cx="9553932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1420415"/>
            <a:ext cx="5333867" cy="2243138"/>
          </a:xfrm>
          <a:prstGeom prst="roundRect">
            <a:avLst>
              <a:gd name="adj" fmla="val 5095"/>
            </a:avLst>
          </a:prstGeom>
          <a:solidFill>
            <a:srgbClr val="11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8243" y="1420415"/>
            <a:ext cx="5219570" cy="3152031"/>
          </a:xfrm>
          <a:prstGeom prst="roundRect">
            <a:avLst>
              <a:gd name="adj" fmla="val 362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3881" y="3854053"/>
            <a:ext cx="5333867" cy="758130"/>
          </a:xfrm>
          <a:prstGeom prst="roundRect">
            <a:avLst>
              <a:gd name="adj" fmla="val 17589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48243" y="4762946"/>
            <a:ext cx="5219570" cy="758130"/>
          </a:xfrm>
          <a:prstGeom prst="roundRect">
            <a:avLst>
              <a:gd name="adj" fmla="val 17589"/>
            </a:avLst>
          </a:prstGeom>
          <a:solidFill>
            <a:srgbClr val="E9F6EE"/>
          </a:solidFill>
          <a:ln w="9524">
            <a:solidFill>
              <a:srgbClr val="C9E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screen_rag_evid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857" y="1429940"/>
            <a:ext cx="5200342" cy="2818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57768" y="4248596"/>
            <a:ext cx="5200520" cy="314325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7768" y="4248596"/>
            <a:ext cx="5200520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965" y="557212"/>
            <a:ext cx="630019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RAG 코드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임베딩 검색 + 확신 없으면 기존 경로로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RAG — agent/rag/{embedder,index,classifier}.py</a:t>
            </a:r>
            <a:r>
              <a:rPr sz="974" b="0">
                <a:solidFill>
                  <a:srgbClr val="8A93A0"/>
                </a:solidFill>
                <a:latin typeface="Pretendard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52" y="3996928"/>
            <a:ext cx="5121082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입력 4블록</a:t>
            </a:r>
            <a:r>
              <a:rPr sz="1199" b="0">
                <a:solidFill>
                  <a:srgbClr val="5A6472"/>
                </a:solidFill>
                <a:latin typeface="Pretendard"/>
              </a:rPr>
              <a:t> — [사용자 질문][시스템][상태][알림].
            질의문을 넣는 이유는 기존 오분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류 2개가 "질의를 안 본 것"이었기 때문.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7768" y="4248596"/>
            <a:ext cx="5356535" cy="361473"/>
          </a:xfrm>
          <a:prstGeom prst="rect">
            <a:avLst/>
          </a:prstGeom>
          <a:noFill/>
        </p:spPr>
        <p:txBody>
          <a:bodyPr wrap="square" lIns="114297" rIns="114297" tIns="76200" bIns="762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0">
                <a:solidFill>
                  <a:srgbClr val="5A6472"/>
                </a:solidFill>
                <a:latin typeface="Pretendard"/>
              </a:rPr>
              <a:t>실제 SSE 출력 — classifier_source=rag · rag_score=0.6452 · rag_margin=0.2177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9214" y="4905821"/>
            <a:ext cx="5003356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게이트가 안전장치다.</a:t>
            </a:r>
            <a:r>
              <a:rPr sz="1199" b="0">
                <a:solidFill>
                  <a:srgbClr val="5A6472"/>
                </a:solidFill>
                <a:latin typeface="Pretendard"/>
              </a:rPr>
              <a:t> RAG가 확신하지 못하면 예전 경로로 내려간다.
            그래서 기존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동작이 깨지지 않는다는 걸 숫자로 확인할 수 있었다.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3881" y="533400"/>
            <a:ext cx="387837" cy="228600"/>
          </a:xfrm>
          <a:prstGeom prst="roundRect">
            <a:avLst>
              <a:gd name="adj" fmla="val 25000"/>
            </a:avLst>
          </a:prstGeom>
          <a:solidFill>
            <a:srgbClr val="EEF3FF"/>
          </a:solidFill>
          <a:ln w="9524">
            <a:solidFill>
              <a:srgbClr val="D3E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12" b="1">
                <a:solidFill>
                  <a:srgbClr val="2B5FD9"/>
                </a:solidFill>
                <a:latin typeface="Pretendard"/>
              </a:rPr>
              <a:t>3분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1927722" y="642937"/>
            <a:ext cx="9540091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3881" y="1420415"/>
            <a:ext cx="5333867" cy="2005608"/>
          </a:xfrm>
          <a:prstGeom prst="roundRect">
            <a:avLst>
              <a:gd name="adj" fmla="val 5699"/>
            </a:avLst>
          </a:prstGeom>
          <a:solidFill>
            <a:srgbClr val="111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3881" y="3616523"/>
            <a:ext cx="5333867" cy="758130"/>
          </a:xfrm>
          <a:prstGeom prst="roundRect">
            <a:avLst>
              <a:gd name="adj" fmla="val 17589"/>
            </a:avLst>
          </a:prstGeom>
          <a:solidFill>
            <a:srgbClr val="FBF3E2"/>
          </a:solidFill>
          <a:ln w="9524">
            <a:solidFill>
              <a:srgbClr val="EDDD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6965" y="557212"/>
            <a:ext cx="644274" cy="208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MCP 코드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881" y="895350"/>
            <a:ext cx="11066249" cy="4942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조회는 MCP로, 데이터 선택은 한 곳에서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MCP — mcp_server.py · agent/mcp_client.py · agent/data_profile.py · agent/deps.py</a:t>
            </a:r>
            <a:r>
              <a:rPr sz="974" b="0">
                <a:solidFill>
                  <a:srgbClr val="8A93A0"/>
                </a:solidFill>
                <a:latin typeface="Pretendar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243" y="1420415"/>
            <a:ext cx="5376157" cy="531257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Tool / Resource / Prompt</a:t>
            </a:r>
            <a:r>
              <a:rPr sz="1274" b="0">
                <a:solidFill>
                  <a:srgbClr val="12151A"/>
                </a:solidFill>
                <a:latin typeface="Pretendard"/>
              </a:rPr>
              <a:t> 를 구분해 쓴다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
            </a:t>
            </a:r>
            <a:r>
              <a:rPr sz="1049" b="0">
                <a:solidFill>
                  <a:srgbClr val="8A93A0"/>
                </a:solidFill>
                <a:latin typeface="JetBrains Mono"/>
              </a:rPr>
              <a:t>모니터링 조회 · 런북 본문 · 분석 절차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243" y="1987153"/>
            <a:ext cx="5376157" cy="531256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stdio subprocess</a:t>
            </a:r>
            <a:r>
              <a:rPr sz="1274" b="0">
                <a:solidFill>
                  <a:srgbClr val="12151A"/>
                </a:solidFill>
                <a:latin typeface="Pretendard"/>
              </a:rPr>
              <a:t> 로 붙는다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
            </a:t>
            </a:r>
            <a:r>
              <a:rPr sz="1049" b="0">
                <a:solidFill>
                  <a:srgbClr val="8A93A0"/>
                </a:solidFill>
                <a:latin typeface="JetBrains Mono"/>
              </a:rPr>
              <a:t>agent/mcp_client.py — list → find → read 순서로 탐색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243" y="2553890"/>
            <a:ext cx="5376157" cy="531257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decoy 서버는 쓰지 않는다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049" b="0">
                <a:solidFill>
                  <a:srgbClr val="8A93A0"/>
                </a:solidFill>
                <a:latin typeface="JetBrains Mono"/>
              </a:rPr>
              <a:t>mcp_server_docs.py — 쓰지 않음이 설계 의도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243" y="3120628"/>
            <a:ext cx="5376157" cy="531256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RAG는 의존성 주입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049" b="0">
                <a:solidFill>
                  <a:srgbClr val="8A93A0"/>
                </a:solidFill>
                <a:latin typeface="JetBrains Mono"/>
              </a:rPr>
              <a:t>SupervisorDeps.rag — 노드가 환경변수를 직접 읽지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243" y="3687365"/>
            <a:ext cx="5376157" cy="531257"/>
          </a:xfrm>
          <a:prstGeom prst="rect">
            <a:avLst/>
          </a:prstGeom>
          <a:noFill/>
        </p:spPr>
        <p:txBody>
          <a:bodyPr wrap="non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1">
                <a:solidFill>
                  <a:srgbClr val="12151A"/>
                </a:solidFill>
                <a:latin typeface="Pretendard"/>
              </a:rPr>
              <a:t>LangSmith</a:t>
            </a:r>
            <a:r>
              <a:rPr sz="1274" b="0">
                <a:solidFill>
                  <a:srgbClr val="12151A"/>
                </a:solidFill>
                <a:latin typeface="Pretendard"/>
              </a:rPr>
              <a:t> 트레이싱 경로 확보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
            </a:t>
            </a:r>
            <a:r>
              <a:rPr sz="1049" b="0">
                <a:solidFill>
                  <a:srgbClr val="8A93A0"/>
                </a:solidFill>
                <a:latin typeface="JetBrains Mono"/>
              </a:rPr>
              <a:t>노드에 @traceable — 실 API 키 없는 환경이라 캡처는 못 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52" y="3759398"/>
            <a:ext cx="5121082" cy="5432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1">
                <a:solidFill>
                  <a:srgbClr val="12151A"/>
                </a:solidFill>
                <a:latin typeface="Pretendard"/>
              </a:rPr>
              <a:t>경로가 다섯 곳에 흩어져 있으면</a:t>
            </a:r>
            <a:r>
              <a:rPr sz="1199" b="0">
                <a:solidFill>
                  <a:srgbClr val="5A6472"/>
                </a:solidFill>
                <a:latin typeface="Pretendard"/>
              </a:rPr>
              <a:t> 시스템만 늘고 실제로 조사하는 대상은
            여섯 개로 잘</a:t>
            </a:r>
          </a:p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sz="1199" b="0">
                <a:solidFill>
                  <a:srgbClr val="5A6472"/>
                </a:solidFill>
                <a:latin typeface="Pretendard"/>
              </a:rPr>
              <a:t>린다 — 이름만 늘고 조사는 그대로인 "가짜 확장"이 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23881" y="6391275"/>
            <a:ext cx="10743932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3881" y="6391275"/>
            <a:ext cx="10743932" cy="12382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5597" y="619125"/>
            <a:ext cx="10252216" cy="9525"/>
          </a:xfrm>
          <a:prstGeom prst="rect">
            <a:avLst/>
          </a:prstGeom>
          <a:solidFill>
            <a:srgbClr val="E4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3881" y="1802606"/>
            <a:ext cx="3454215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68591" y="1802606"/>
            <a:ext cx="3454363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13449" y="1802606"/>
            <a:ext cx="3454364" cy="1000125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3881" y="2993231"/>
            <a:ext cx="5276718" cy="3255169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095" y="2993231"/>
            <a:ext cx="5276718" cy="3255169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9524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881" y="533400"/>
            <a:ext cx="408363" cy="2081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마무리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881" y="533400"/>
            <a:ext cx="11066249" cy="2081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4" b="1" spc="67">
                <a:solidFill>
                  <a:srgbClr val="2B5FD9"/>
                </a:solidFill>
                <a:latin typeface="Pretendard"/>
              </a:rPr>
              <a:t>마무리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881" y="847725"/>
            <a:ext cx="11066249" cy="9885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판정을 바꾼 게 아니라,</a:t>
            </a:r>
          </a:p>
          <a:p>
            <a:pPr algn="l">
              <a:lnSpc>
                <a:spcPts val="3385"/>
              </a:lnSpc>
              <a:spcBef>
                <a:spcPts val="0"/>
              </a:spcBef>
              <a:spcAft>
                <a:spcPts val="0"/>
              </a:spcAft>
            </a:pPr>
            <a:r>
              <a:rPr sz="2774" b="1" spc="-61">
                <a:solidFill>
                  <a:srgbClr val="12151A"/>
                </a:solidFill>
                <a:latin typeface="Pretendard"/>
              </a:rPr>
              <a:t>판단의 근거를 남기고 측정할 수 있게 바꾼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881" y="6391275"/>
            <a:ext cx="11066249" cy="295751"/>
          </a:xfrm>
          <a:prstGeom prst="rect">
            <a:avLst/>
          </a:prstGeom>
          <a:noFill/>
        </p:spPr>
        <p:txBody>
          <a:bodyPr wrap="square" lIns="0" rIns="0" tIns="9525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4" b="1">
                <a:solidFill>
                  <a:srgbClr val="5A6472"/>
                </a:solidFill>
                <a:latin typeface="Pretendard"/>
              </a:rPr>
              <a:t>github.com/pigpgw/skala-ai-service-mini · 근거 doc/reports/evidence/index.md</a:t>
            </a:r>
            <a:r>
              <a:rPr sz="974" b="0">
                <a:solidFill>
                  <a:srgbClr val="8A93A0"/>
                </a:solidFill>
                <a:latin typeface="Pretendar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881" y="1802606"/>
            <a:ext cx="3557841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2B5FD9"/>
                </a:solidFill>
                <a:latin typeface="Pretendard"/>
              </a:rPr>
              <a:t>0.3250 → 0.8500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40문항 분류 정확도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591" y="1802606"/>
            <a:ext cx="3557993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17784A"/>
                </a:solidFill>
                <a:latin typeface="Pretendard"/>
              </a:rPr>
              <a:t>0.2836 → 0.8521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macro-F1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3449" y="1802606"/>
            <a:ext cx="3557994" cy="1150143"/>
          </a:xfrm>
          <a:prstGeom prst="rect">
            <a:avLst/>
          </a:prstGeom>
          <a:noFill/>
        </p:spPr>
        <p:txBody>
          <a:bodyPr wrap="none" lIns="209544" rIns="209544" tIns="190500" bIns="190500">
            <a:spAutoFit/>
          </a:bodyPr>
          <a:lstStyle/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2999" b="1" spc="-89">
                <a:solidFill>
                  <a:srgbClr val="2B5FD9"/>
                </a:solidFill>
                <a:latin typeface="Pretendard"/>
              </a:rPr>
              <a:t>3/10 → 10/10</a:t>
            </a:r>
          </a:p>
          <a:p>
            <a:pPr algn="l">
              <a:lnSpc>
                <a:spcPts val="3299"/>
              </a:lnSpc>
              <a:spcBef>
                <a:spcPts val="0"/>
              </a:spcBef>
              <a:spcAft>
                <a:spcPts val="0"/>
              </a:spcAft>
            </a:pPr>
            <a:r>
              <a:rPr sz="1087" b="0">
                <a:solidFill>
                  <a:srgbClr val="5A6472"/>
                </a:solidFill>
                <a:latin typeface="Pretendard"/>
              </a:rPr>
              <a:t>회귀 질의 (매뉴얼 9쪽)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51" y="3193256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배운 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0164" y="3193256"/>
            <a:ext cx="4983736" cy="2190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74" b="1" spc="-12">
                <a:solidFill>
                  <a:srgbClr val="12151A"/>
                </a:solidFill>
                <a:latin typeface="Pretendard"/>
              </a:rPr>
              <a:t>다음에 하고 싶은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951" y="3459956"/>
            <a:ext cx="4983736" cy="279320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RAG의 핵심은 임베딩보다 </a:t>
            </a:r>
            <a:r>
              <a:rPr sz="1274" b="1">
                <a:solidFill>
                  <a:srgbClr val="12151A"/>
                </a:solidFill>
                <a:latin typeface="Pretendard"/>
              </a:rPr>
              <a:t>입력 정의와 게이트</a:t>
            </a:r>
            <a:r>
              <a:rPr sz="1274" b="0">
                <a:solidFill>
                  <a:srgbClr val="12151A"/>
                </a:solidFill>
                <a:latin typeface="Pretendard"/>
              </a:rPr>
              <a:t>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0164" y="3459956"/>
            <a:ext cx="4983736" cy="279320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실제 장애 티켓으로 라벨 세트 재구축 (지금은 자기 평가)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951" y="3807618"/>
            <a:ext cx="4983736" cy="279321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"개선"이라고 말하려면 </a:t>
            </a:r>
            <a:r>
              <a:rPr sz="1274" b="1">
                <a:solidFill>
                  <a:srgbClr val="12151A"/>
                </a:solidFill>
                <a:latin typeface="Pretendard"/>
              </a:rPr>
              <a:t>기준선을 먼저</a:t>
            </a:r>
            <a:r>
              <a:rPr sz="1274" b="0">
                <a:solidFill>
                  <a:srgbClr val="12151A"/>
                </a:solidFill>
                <a:latin typeface="Pretendard"/>
              </a:rPr>
              <a:t> 재야 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164" y="3807618"/>
            <a:ext cx="4983736" cy="279321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LLM-as-judge 평가 추가 · Research 서브그래프 분리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51" y="4155281"/>
            <a:ext cx="4983736" cy="279320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근거를 화면에 남기면 </a:t>
            </a:r>
            <a:r>
              <a:rPr sz="1274" b="1">
                <a:solidFill>
                  <a:srgbClr val="12151A"/>
                </a:solidFill>
                <a:latin typeface="Pretendard"/>
              </a:rPr>
              <a:t>설명하지 않아도 확인</a:t>
            </a:r>
            <a:r>
              <a:rPr sz="1274" b="0">
                <a:solidFill>
                  <a:srgbClr val="12151A"/>
                </a:solidFill>
                <a:latin typeface="Pretendard"/>
              </a:rPr>
              <a:t>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0164" y="4155281"/>
            <a:ext cx="4983736" cy="279320"/>
          </a:xfrm>
          <a:prstGeom prst="rect">
            <a:avLst/>
          </a:prstGeom>
          <a:noFill/>
        </p:spPr>
        <p:txBody>
          <a:bodyPr wrap="square" lIns="190495" rIns="0" tIns="0" bIns="0">
            <a:sp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274" b="0">
                <a:solidFill>
                  <a:srgbClr val="12151A"/>
                </a:solidFill>
                <a:latin typeface="Pretendard"/>
              </a:rPr>
              <a:t>실 OpenAI 백엔드로 비용·지연 재측정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